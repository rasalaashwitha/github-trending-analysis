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Repos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BF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606-46B2-8904-0CEF1DC27A27}"/>
              </c:ext>
            </c:extLst>
          </c:dPt>
          <c:dPt>
            <c:idx val="1"/>
            <c:bubble3D val="0"/>
            <c:spPr>
              <a:solidFill>
                <a:srgbClr val="6C5CE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06-46B2-8904-0CEF1DC27A2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606-46B2-8904-0CEF1DC27A2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606-46B2-8904-0CEF1DC27A2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Data Science</c:v>
                </c:pt>
                <c:pt idx="1">
                  <c:v>Web Development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800</c:v>
                </c:pt>
                <c:pt idx="1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06-46B2-8904-0CEF1DC27A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9ECF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Stars</c:v>
                </c:pt>
              </c:strCache>
            </c:strRef>
          </c:tx>
          <c:spPr>
            <a:solidFill>
              <a:srgbClr val="2FBF7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DD7-4E81-8C3E-FB2D5C1139D8}"/>
              </c:ext>
            </c:extLst>
          </c:dPt>
          <c:dPt>
            <c:idx val="1"/>
            <c:invertIfNegative val="0"/>
            <c:bubble3D val="0"/>
            <c:spPr>
              <a:solidFill>
                <a:srgbClr val="6C5CE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D7-4E81-8C3E-FB2D5C1139D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41B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Data Science</c:v>
                </c:pt>
                <c:pt idx="1">
                  <c:v>Web Development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31613</c:v>
                </c:pt>
                <c:pt idx="1">
                  <c:v>33818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D7-4E81-8C3E-FB2D5C1139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1B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Forks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Data Science</c:v>
                </c:pt>
                <c:pt idx="1">
                  <c:v>Web Development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5560.03</c:v>
                </c:pt>
                <c:pt idx="1">
                  <c:v>5781.48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72-43A3-9165-1C50B06C47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Watchers</c:v>
                </c:pt>
              </c:strCache>
            </c:strRef>
          </c:tx>
          <c:spPr>
            <a:solidFill>
              <a:srgbClr val="2FBF71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Data Science</c:v>
                </c:pt>
                <c:pt idx="1">
                  <c:v>Web Development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31613.25</c:v>
                </c:pt>
                <c:pt idx="1">
                  <c:v>33817.78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72-43A3-9165-1C50B06C47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B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B647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D3C-4792-8653-FFC0EE86515C}"/>
              </c:ext>
            </c:extLst>
          </c:dPt>
          <c:dPt>
            <c:idx val="1"/>
            <c:invertIfNegative val="0"/>
            <c:bubble3D val="0"/>
            <c:spPr>
              <a:solidFill>
                <a:srgbClr val="2FBF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3C-4792-8653-FFC0EE86515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41B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Very High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17363.740000000002</c:v>
                </c:pt>
                <c:pt idx="1">
                  <c:v>88910.91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D3C-4792-8653-FFC0EE8651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B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Score</c:v>
                </c:pt>
              </c:strCache>
            </c:strRef>
          </c:tx>
          <c:spPr>
            <a:solidFill>
              <a:srgbClr val="2FBF7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47-45DA-A29C-D5789BD8B08A}"/>
              </c:ext>
            </c:extLst>
          </c:dPt>
          <c:dPt>
            <c:idx val="1"/>
            <c:invertIfNegative val="0"/>
            <c:bubble3D val="0"/>
            <c:spPr>
              <a:solidFill>
                <a:srgbClr val="AEB6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47-45DA-A29C-D5789BD8B08A}"/>
              </c:ext>
            </c:extLst>
          </c:dPt>
          <c:dPt>
            <c:idx val="2"/>
            <c:invertIfNegative val="0"/>
            <c:bubble3D val="0"/>
            <c:spPr>
              <a:solidFill>
                <a:srgbClr val="AEB6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47-45DA-A29C-D5789BD8B08A}"/>
              </c:ext>
            </c:extLst>
          </c:dPt>
          <c:dPt>
            <c:idx val="3"/>
            <c:invertIfNegative val="0"/>
            <c:bubble3D val="0"/>
            <c:spPr>
              <a:solidFill>
                <a:srgbClr val="AEB6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347-45DA-A29C-D5789BD8B08A}"/>
              </c:ext>
            </c:extLst>
          </c:dPt>
          <c:dPt>
            <c:idx val="4"/>
            <c:invertIfNegative val="0"/>
            <c:bubble3D val="0"/>
            <c:spPr>
              <a:solidFill>
                <a:srgbClr val="AEB6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347-45DA-A29C-D5789BD8B08A}"/>
              </c:ext>
            </c:extLst>
          </c:dPt>
          <c:dPt>
            <c:idx val="5"/>
            <c:invertIfNegative val="0"/>
            <c:bubble3D val="0"/>
            <c:spPr>
              <a:solidFill>
                <a:srgbClr val="AEB6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347-45DA-A29C-D5789BD8B08A}"/>
              </c:ext>
            </c:extLst>
          </c:dPt>
          <c:dPt>
            <c:idx val="6"/>
            <c:invertIfNegative val="0"/>
            <c:bubble3D val="0"/>
            <c:spPr>
              <a:solidFill>
                <a:srgbClr val="AEB6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347-45DA-A29C-D5789BD8B08A}"/>
              </c:ext>
            </c:extLst>
          </c:dPt>
          <c:dPt>
            <c:idx val="7"/>
            <c:invertIfNegative val="0"/>
            <c:bubble3D val="0"/>
            <c:spPr>
              <a:solidFill>
                <a:srgbClr val="AEB6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347-45DA-A29C-D5789BD8B08A}"/>
              </c:ext>
            </c:extLst>
          </c:dPt>
          <c:dPt>
            <c:idx val="8"/>
            <c:invertIfNegative val="0"/>
            <c:bubble3D val="0"/>
            <c:spPr>
              <a:solidFill>
                <a:srgbClr val="6C5CE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347-45DA-A29C-D5789BD8B08A}"/>
              </c:ext>
            </c:extLst>
          </c:dPt>
          <c:dPt>
            <c:idx val="9"/>
            <c:invertIfNegative val="0"/>
            <c:bubble3D val="0"/>
            <c:spPr>
              <a:solidFill>
                <a:srgbClr val="AEB6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347-45DA-A29C-D5789BD8B08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41B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MDX</c:v>
                </c:pt>
                <c:pt idx="1">
                  <c:v>Ruby</c:v>
                </c:pt>
                <c:pt idx="2">
                  <c:v>Julia</c:v>
                </c:pt>
                <c:pt idx="3">
                  <c:v>Astro</c:v>
                </c:pt>
                <c:pt idx="4">
                  <c:v>C++</c:v>
                </c:pt>
                <c:pt idx="5">
                  <c:v>Go</c:v>
                </c:pt>
                <c:pt idx="6">
                  <c:v>HTML</c:v>
                </c:pt>
                <c:pt idx="7">
                  <c:v>Shell</c:v>
                </c:pt>
                <c:pt idx="8">
                  <c:v>JavaScript</c:v>
                </c:pt>
                <c:pt idx="9">
                  <c:v>Python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209686</c:v>
                </c:pt>
                <c:pt idx="1">
                  <c:v>162074</c:v>
                </c:pt>
                <c:pt idx="2">
                  <c:v>109904</c:v>
                </c:pt>
                <c:pt idx="3">
                  <c:v>109560</c:v>
                </c:pt>
                <c:pt idx="4">
                  <c:v>95041</c:v>
                </c:pt>
                <c:pt idx="5">
                  <c:v>91295</c:v>
                </c:pt>
                <c:pt idx="6">
                  <c:v>86666</c:v>
                </c:pt>
                <c:pt idx="7">
                  <c:v>84350</c:v>
                </c:pt>
                <c:pt idx="8">
                  <c:v>81590</c:v>
                </c:pt>
                <c:pt idx="9">
                  <c:v>77981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F347-45DA-A29C-D5789BD8B0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41B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652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6213A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00"/>
            <a:ext cx="2743200" cy="2743200"/>
          </a:xfrm>
          <a:prstGeom prst="ellipse">
            <a:avLst/>
          </a:prstGeom>
          <a:solidFill>
            <a:srgbClr val="16213A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16213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6" name="Image 0" descr="/home/claude/pptx_build/icons/git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1" y="87828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·  OPEN SOURCE INTELLIGENCE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 Analysis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4434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data analysis of 1,000 trending repositories ,uncovering what drives stars, forks, and engagement.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5532120"/>
            <a:ext cx="1005840" cy="0"/>
          </a:xfrm>
          <a:prstGeom prst="line">
            <a:avLst/>
          </a:prstGeom>
          <a:noFill/>
          <a:ln w="38100">
            <a:solidFill>
              <a:srgbClr val="2FBF7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GitHub REST API data  |  1,000 repositories  |  29 languages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spans 1,000 GitHub repositories collected across 13 popularity-driven topics, revealing clear patterns in language dominance, engagement, and growth.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4203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1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30552"/>
            <a:ext cx="566928" cy="566928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6" name="Image 0" descr="/home/claude/pptx_build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73" y="2204253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07208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3291840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analyzed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46704" y="1874520"/>
            <a:ext cx="254203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1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02736" y="2130552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1" name="Image 1" descr="/home/claude/pptx_build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437" y="220425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3864" y="2807208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483864" y="3291840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44768" y="1874520"/>
            <a:ext cx="254203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1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2130552"/>
            <a:ext cx="566928" cy="566928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16" name="Image 2" descr="/home/claude/pptx_build/icons/tre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4501" y="2204253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1928" y="2807208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32,054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281928" y="3291840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stars per repo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42832" y="1874520"/>
            <a:ext cx="254203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13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98864" y="2130552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1" name="Image 3" descr="/home/claude/pptx_build/icons/activ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565" y="2204253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79992" y="2807208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079992" y="3291840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stars ↔ forks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11480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0D1321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14400" y="475488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9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counts are heavily right-skewed (mean 32,054 vs. median 22,256) — a small set of flagship repositories pull the average far above the typical repo. Python leads in volume, while niche languages like MDX and Ruby post the highest per-repo engagement.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Ecosystem Analysis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analytical pipeline, from raw API collection to actionable business recommendations.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48256" cy="35661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3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1762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/home/claude/pptx_build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3464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2834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1321"/>
          </a:solidFill>
          <a:ln/>
        </p:spPr>
      </p:sp>
      <p:pic>
        <p:nvPicPr>
          <p:cNvPr id="9" name="Image 1" descr="/home/claude/pptx_build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8986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45643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85800" y="3913632"/>
            <a:ext cx="17739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the GitHub Search API across 8 Data Science and 5 Web Development topics, sorted by stars.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738628" y="1920240"/>
            <a:ext cx="2048256" cy="35661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3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875788" y="21762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14" name="Text 10"/>
          <p:cNvSpPr/>
          <p:nvPr/>
        </p:nvSpPr>
        <p:spPr>
          <a:xfrm>
            <a:off x="2875788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2" descr="/home/claude/pptx_build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788" y="2834640"/>
            <a:ext cx="457200" cy="457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875788" y="2834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1321"/>
          </a:solidFill>
          <a:ln/>
        </p:spPr>
      </p:sp>
      <p:pic>
        <p:nvPicPr>
          <p:cNvPr id="17" name="Image 3" descr="/home/claude/pptx_build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9796" y="289864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875788" y="345643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2875788" y="3913632"/>
            <a:ext cx="17739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languages, fixed date types, verified duplicates, and validated ranges.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928616" y="1920240"/>
            <a:ext cx="2048256" cy="35661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30">
                <a:alpha val="1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065776" y="21762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/>
        </p:spPr>
      </p:sp>
      <p:sp>
        <p:nvSpPr>
          <p:cNvPr id="22" name="Text 16"/>
          <p:cNvSpPr/>
          <p:nvPr/>
        </p:nvSpPr>
        <p:spPr>
          <a:xfrm>
            <a:off x="5065776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pic>
        <p:nvPicPr>
          <p:cNvPr id="23" name="Image 4" descr="/home/claude/pptx_build/icons/bar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6" y="2834640"/>
            <a:ext cx="457200" cy="4572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065776" y="2834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1321"/>
          </a:solidFill>
          <a:ln/>
        </p:spPr>
      </p:sp>
      <p:pic>
        <p:nvPicPr>
          <p:cNvPr id="25" name="Image 5" descr="/home/claude/pptx_build/icons/bar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784" y="289864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65776" y="345643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5065776" y="3913632"/>
            <a:ext cx="17739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bivariate, and multivariate visualization across stars, forks, watchers, and issues.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7118604" y="1920240"/>
            <a:ext cx="2048256" cy="35661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30">
                <a:alpha val="1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255764" y="21762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30" name="Text 22"/>
          <p:cNvSpPr/>
          <p:nvPr/>
        </p:nvSpPr>
        <p:spPr>
          <a:xfrm>
            <a:off x="7255764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pic>
        <p:nvPicPr>
          <p:cNvPr id="31" name="Image 6" descr="/home/claude/pptx_build/icons/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5764" y="2834640"/>
            <a:ext cx="457200" cy="45720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7255764" y="2834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1321"/>
          </a:solidFill>
          <a:ln/>
        </p:spPr>
      </p:sp>
      <p:pic>
        <p:nvPicPr>
          <p:cNvPr id="33" name="Image 7" descr="/home/claude/pptx_build/icons/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9772" y="289864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255764" y="345643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Testing</a:t>
            </a:r>
            <a:endParaRPr lang="en-US" sz="1350" dirty="0"/>
          </a:p>
        </p:txBody>
      </p:sp>
      <p:sp>
        <p:nvSpPr>
          <p:cNvPr id="35" name="Text 25"/>
          <p:cNvSpPr/>
          <p:nvPr/>
        </p:nvSpPr>
        <p:spPr>
          <a:xfrm>
            <a:off x="7255764" y="3913632"/>
            <a:ext cx="17739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T-tests, ANOVA, chi-square, and confidence intervals to validate observed patterns.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9308592" y="1920240"/>
            <a:ext cx="2048256" cy="356616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30">
                <a:alpha val="15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9445752" y="21762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/>
        </p:spPr>
      </p:sp>
      <p:sp>
        <p:nvSpPr>
          <p:cNvPr id="38" name="Text 28"/>
          <p:cNvSpPr/>
          <p:nvPr/>
        </p:nvSpPr>
        <p:spPr>
          <a:xfrm>
            <a:off x="9445752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pic>
        <p:nvPicPr>
          <p:cNvPr id="39" name="Image 8" descr="/home/claude/pptx_build/icons/aw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5752" y="2834640"/>
            <a:ext cx="457200" cy="45720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9445752" y="2834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1321"/>
          </a:solidFill>
          <a:ln/>
        </p:spPr>
      </p:sp>
      <p:pic>
        <p:nvPicPr>
          <p:cNvPr id="41" name="Image 9" descr="/home/claude/pptx_build/icons/aw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0" y="2898648"/>
            <a:ext cx="329184" cy="32918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9445752" y="345643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Recommendations</a:t>
            </a:r>
            <a:endParaRPr lang="en-US" sz="1350" dirty="0"/>
          </a:p>
        </p:txBody>
      </p:sp>
      <p:sp>
        <p:nvSpPr>
          <p:cNvPr id="43" name="Text 31"/>
          <p:cNvSpPr/>
          <p:nvPr/>
        </p:nvSpPr>
        <p:spPr>
          <a:xfrm>
            <a:off x="9445752" y="3913632"/>
            <a:ext cx="17739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Feature-engineered an Engagement Score to rank repositories and languages.</a:t>
            </a:r>
            <a:endParaRPr lang="en-US" sz="1050" dirty="0"/>
          </a:p>
        </p:txBody>
      </p:sp>
      <p:sp>
        <p:nvSpPr>
          <p:cNvPr id="44" name="Text 3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Ecosystem Analysis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were pulled from two broad domains, spanning 13 search topics.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0" cy="4343400"/>
          </a:xfrm>
          <a:prstGeom prst="roundRect">
            <a:avLst>
              <a:gd name="adj" fmla="val 2857"/>
            </a:avLst>
          </a:prstGeom>
          <a:solidFill>
            <a:srgbClr val="0D132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Split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914400" y="2377440"/>
          <a:ext cx="3200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5394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Data Science  ·  200 Web Development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1737360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2040" y="1901952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892040" y="2578608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repositories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0" y="1737360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58200" y="1901952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458200" y="2578608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 per repo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3310128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347472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892040" y="4151376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topics queried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29600" y="3310128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58200" y="347472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8458200" y="4151376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languages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663440" y="4882896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5047488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637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4892040" y="5724144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repo owners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229600" y="4882896"/>
            <a:ext cx="33649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58200" y="5047488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 yrs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8458200" y="5724144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repository age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Ecosystem Analysis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API data was systematically audited before analysis began.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76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/>
        </p:spPr>
      </p:sp>
      <p:pic>
        <p:nvPicPr>
          <p:cNvPr id="6" name="Image 0" descr="/home/claude/pptx_buil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01168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562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23360" y="18562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missing “Language” entries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543800" y="1920240"/>
            <a:ext cx="0" cy="512064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85623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“Unknown” category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688336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3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8529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/>
        </p:spPr>
      </p:sp>
      <p:pic>
        <p:nvPicPr>
          <p:cNvPr id="13" name="Image 1" descr="/home/claude/pptx_buil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91693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023360" y="276148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stored as text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543800" y="2825496"/>
            <a:ext cx="0" cy="512064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0" y="27614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proper datetime (UTC)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593592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3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37581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/>
        </p:spPr>
      </p:sp>
      <p:pic>
        <p:nvPicPr>
          <p:cNvPr id="20" name="Image 2" descr="/home/claude/pptx_buil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822192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17320" y="36667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Records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023360" y="3666744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full dataset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543800" y="3730752"/>
            <a:ext cx="0" cy="512064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72400" y="366674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exact duplicates found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48640" y="4498848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3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77240" y="4663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/>
        </p:spPr>
      </p:sp>
      <p:pic>
        <p:nvPicPr>
          <p:cNvPr id="27" name="Image 3" descr="/home/claude/pptx_buil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72744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17320" y="45720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 Values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4023360" y="45720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star counts checked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7543800" y="4636008"/>
            <a:ext cx="0" cy="512064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772400" y="4572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— all values valid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48640" y="5404104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3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77240" y="55686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BF71"/>
          </a:solidFill>
          <a:ln/>
        </p:spPr>
      </p:sp>
      <p:pic>
        <p:nvPicPr>
          <p:cNvPr id="34" name="Image 4" descr="/home/claude/pptx_buil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632704"/>
            <a:ext cx="329184" cy="32918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417320" y="547725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Review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4023360" y="547725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on Stars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7543800" y="5541264"/>
            <a:ext cx="0" cy="512064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772400" y="547725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High-star repos retained as genuine signal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Ecosystem Analysis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GitHub Stars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 reveals a strongly right-skewed distribution.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8580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30">
                <a:alpha val="15000"/>
              </a:srgbClr>
            </a:outerShdw>
          </a:effectLst>
        </p:spPr>
      </p:sp>
      <p:pic>
        <p:nvPicPr>
          <p:cNvPr id="5" name="Image 0" descr="/home/claude/pptx_build/assets/hist_sta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920240"/>
            <a:ext cx="630936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691640"/>
            <a:ext cx="400507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0" y="18013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63840" y="2075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32,054 stars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635240" y="2743200"/>
            <a:ext cx="400507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0" y="28529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63840" y="31272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22,256 stars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635240" y="3794760"/>
            <a:ext cx="400507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0" y="39044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863840" y="41788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32,265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635240" y="4846320"/>
            <a:ext cx="400507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0" y="49560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863840" y="52303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238,490 stars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Ecosystem Analysis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Programming Languages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dominates repository volume by a wide margin across both categories.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22376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30">
                <a:alpha val="15000"/>
              </a:srgbClr>
            </a:outerShdw>
          </a:effectLst>
        </p:spPr>
      </p:sp>
      <p:pic>
        <p:nvPicPr>
          <p:cNvPr id="5" name="Image 0" descr="/home/claude/pptx_build/assets/top_languag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920240"/>
            <a:ext cx="667512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691640"/>
            <a:ext cx="3639312" cy="4434840"/>
          </a:xfrm>
          <a:prstGeom prst="roundRect">
            <a:avLst>
              <a:gd name="adj" fmla="val 2513"/>
            </a:avLst>
          </a:prstGeom>
          <a:solidFill>
            <a:srgbClr val="0D1321"/>
          </a:solidFill>
          <a:ln/>
        </p:spPr>
      </p:sp>
      <p:sp>
        <p:nvSpPr>
          <p:cNvPr id="7" name="Text 4"/>
          <p:cNvSpPr/>
          <p:nvPr/>
        </p:nvSpPr>
        <p:spPr>
          <a:xfrm>
            <a:off x="827532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75320" y="237744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9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appears in 380 of 1,000 repositories (38%), driven heavily by the Data Science category (ML, NLP, and GenAI topics). JavaScript, TypeScript, and Jupyter Notebook round out the top tier — reflecting the tooling stack of modern AI and web projects.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Ecosystem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vs. Web Development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4x more repositories, Data Science trails Web Development slightly in average star count.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3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Stars by Category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77240" y="2377440"/>
          <a:ext cx="4892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737360"/>
            <a:ext cx="5605272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3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5508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Watchers &amp; Forks by Category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263640" y="2377440"/>
          <a:ext cx="52120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Ecosystem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Between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Forks track closely with stars; open issues behave more independently.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2636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30">
                <a:alpha val="15000"/>
              </a:srgbClr>
            </a:outerShdw>
          </a:effectLst>
        </p:spPr>
      </p:sp>
      <p:pic>
        <p:nvPicPr>
          <p:cNvPr id="5" name="Image 0" descr="/home/claude/pptx_build/assets/scatter_forks_sta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920240"/>
            <a:ext cx="571500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691640"/>
            <a:ext cx="4599432" cy="4434840"/>
          </a:xfrm>
          <a:prstGeom prst="roundRect">
            <a:avLst>
              <a:gd name="adj" fmla="val 2062"/>
            </a:avLst>
          </a:prstGeom>
          <a:solidFill>
            <a:srgbClr val="0D1321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423160"/>
          <a:ext cx="4023360" cy="22860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8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9ECF5"/>
                          </a:solidFill>
                        </a:rPr>
                        <a:t>Stars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9ECF5"/>
                          </a:solidFill>
                        </a:rPr>
                        <a:t>Forks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9ECF5"/>
                          </a:solidFill>
                        </a:rPr>
                        <a:t>Watchers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9ECF5"/>
                          </a:solidFill>
                        </a:rPr>
                        <a:t>Open Issues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3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9ECF5"/>
                          </a:solidFill>
                        </a:rPr>
                        <a:t>Stars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321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321"/>
                          </a:solidFill>
                        </a:rPr>
                        <a:t>0.77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9B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321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0.29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9ECF5"/>
                          </a:solidFill>
                        </a:rPr>
                        <a:t>Forks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321"/>
                          </a:solidFill>
                        </a:rPr>
                        <a:t>0.77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9B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321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321"/>
                          </a:solidFill>
                        </a:rPr>
                        <a:t>0.77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9B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0.30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0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9ECF5"/>
                          </a:solidFill>
                        </a:rPr>
                        <a:t>Watchers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321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321"/>
                          </a:solidFill>
                        </a:rPr>
                        <a:t>0.77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9B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321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0.29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9ECF5"/>
                          </a:solidFill>
                        </a:rPr>
                        <a:t>Open Issues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0.29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0.30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0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0.29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321"/>
                          </a:solidFill>
                        </a:rPr>
                        <a:t>1.00</a:t>
                      </a:r>
                      <a:endParaRPr lang="en-US" sz="1100" dirty="0"/>
                    </a:p>
                  </a:txBody>
                  <a:tcPr anchor="ctr">
                    <a:lnL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D132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315200" y="48463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and Watchers are perfectly correlated (r = 1.00) in this dataset, while Forks track stars closely (r = 0.77). Open Issues shows the weakest relationship (r ≈ 0.29–0.30) — popularity doesn’t necessarily mean more open issues.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Ecosystem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Significance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hypothesis tests validate (and challenge) the visual patterns observed in EDA.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88336" cy="42976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3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57400"/>
            <a:ext cx="146304" cy="146304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T-Test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vs. Java — Stars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5.50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4480560"/>
            <a:ext cx="228600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6634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difference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74136" y="1783080"/>
            <a:ext cx="2688336" cy="42976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3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75304" y="2057400"/>
            <a:ext cx="146304" cy="146304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14" name="Text 12"/>
          <p:cNvSpPr/>
          <p:nvPr/>
        </p:nvSpPr>
        <p:spPr>
          <a:xfrm>
            <a:off x="3849624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 Test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75304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× Language association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75304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χ² = 442.95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75304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75304" y="4480560"/>
            <a:ext cx="228600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75304" y="46634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association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1783080"/>
            <a:ext cx="2688336" cy="42976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3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2057400"/>
            <a:ext cx="146304" cy="146304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ANOVA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across categories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0.75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0.388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4480560"/>
            <a:ext cx="228600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6634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difference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25128" y="1783080"/>
            <a:ext cx="2688336" cy="42976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3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26296" y="2057400"/>
            <a:ext cx="146304" cy="146304"/>
          </a:xfrm>
          <a:prstGeom prst="ellipse">
            <a:avLst/>
          </a:prstGeom>
          <a:solidFill>
            <a:srgbClr val="2FBF71"/>
          </a:solidFill>
          <a:ln/>
        </p:spPr>
      </p:sp>
      <p:sp>
        <p:nvSpPr>
          <p:cNvPr id="30" name="Text 28"/>
          <p:cNvSpPr/>
          <p:nvPr/>
        </p:nvSpPr>
        <p:spPr>
          <a:xfrm>
            <a:off x="9500616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 Confidence Interval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226296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mean Stars estimate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226296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[30,054 – 34,054]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226296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1,000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226296" y="4480560"/>
            <a:ext cx="2286000" cy="0"/>
          </a:xfrm>
          <a:prstGeom prst="line">
            <a:avLst/>
          </a:prstGeom>
          <a:noFill/>
          <a:ln w="12700">
            <a:solidFill>
              <a:srgbClr val="E4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26296" y="46634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population estimate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Ecosystem Analysis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Engineering: Engagement Score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metric was built to rank repositories beyond raw star count.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937760" cy="4297680"/>
          </a:xfrm>
          <a:prstGeom prst="roundRect">
            <a:avLst>
              <a:gd name="adj" fmla="val 2553"/>
            </a:avLst>
          </a:prstGeom>
          <a:solidFill>
            <a:srgbClr val="16213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Engagement Score</a:t>
            </a:r>
            <a:endParaRPr lang="en-US" sz="1600" dirty="0"/>
          </a:p>
          <a:p>
            <a:pPr marL="0" indent="0">
              <a:buNone/>
            </a:pPr>
            <a:r>
              <a:rPr lang="en-US" sz="2000" dirty="0">
                <a:solidFill>
                  <a:srgbClr val="9AA5C1"/>
                </a:solidFill>
              </a:rPr>
              <a:t> =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Stars</a:t>
            </a:r>
            <a:r>
              <a:rPr lang="en-US" sz="2000" dirty="0">
                <a:solidFill>
                  <a:srgbClr val="9AA5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r>
              <a:rPr lang="en-US" sz="20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Forks × 2</a:t>
            </a:r>
            <a:r>
              <a:rPr lang="en-US" sz="2000" dirty="0">
                <a:solidFill>
                  <a:srgbClr val="9AA5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r>
              <a:rPr lang="en-US" sz="20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AA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forks by 2x rewards repositories that inspire active derivative work — not just passive stargazing — giving a fuller picture of real developer engagement.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4754880"/>
            <a:ext cx="4297680" cy="0"/>
          </a:xfrm>
          <a:prstGeom prst="line">
            <a:avLst/>
          </a:prstGeom>
          <a:noFill/>
          <a:ln w="12700">
            <a:solidFill>
              <a:srgbClr val="2A3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93776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Age = years since creation  ·  Active Repo = updated in last 180 days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783080"/>
            <a:ext cx="5879592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080760" y="2011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Engagement Score by Popularity Tier</a:t>
            </a:r>
            <a:endParaRPr lang="en-US" sz="12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989320" y="251460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Ecosystem Analysis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Performing Repositories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Engagement Score — the composite of stars, forks, and watchers.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424281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Repository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Primary Language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Engagement Score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6478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B2D"/>
                          </a:solidFill>
                        </a:rPr>
                        <a:t>ECC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</a:rPr>
                        <a:t>JavaScript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</a:rPr>
                        <a:t>549,410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6478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B2D"/>
                          </a:solidFill>
                        </a:rPr>
                        <a:t>tensorflow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</a:rPr>
                        <a:t>C++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</a:rPr>
                        <a:t>545,614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6478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B2D"/>
                          </a:solidFill>
                        </a:rPr>
                        <a:t>hermes-agent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</a:rPr>
                        <a:t>Python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</a:rPr>
                        <a:t>542,558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6478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B2D"/>
                          </a:solidFill>
                        </a:rPr>
                        <a:t>bootstrap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</a:rPr>
                        <a:t>MDX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</a:rPr>
                        <a:t>506,494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6478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B2D"/>
                          </a:solidFill>
                        </a:rPr>
                        <a:t>AutoGPT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</a:rPr>
                        <a:t>Python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</a:rPr>
                        <a:t>464,564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6478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B2D"/>
                          </a:solidFill>
                        </a:rPr>
                        <a:t>andrej-karpathy-skills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</a:rPr>
                        <a:t>Unknown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</a:rPr>
                        <a:t>442,152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6478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B2D"/>
                          </a:solidFill>
                        </a:rPr>
                        <a:t>transformers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</a:rPr>
                        <a:t>Python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</a:rPr>
                        <a:t>395,154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94360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EAF7EF"/>
          </a:solidFill>
          <a:ln/>
        </p:spPr>
      </p:sp>
      <p:pic>
        <p:nvPicPr>
          <p:cNvPr id="6" name="Image 0" descr="/home/claude/pptx_build/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035040"/>
            <a:ext cx="320040" cy="320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13232" y="6035040"/>
            <a:ext cx="320040" cy="320040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8" name="Image 1" descr="/home/claude/pptx_build/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6103620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59436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and Transformers confirm the ML ecosystem’s continued dominance in developer engagement.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Ecosystem Analysis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Performance Leaders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Engagement Score by language — niche languages punch above their weight.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30">
                <a:alpha val="15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868680" y="1965960"/>
          <a:ext cx="104241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Ecosystem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13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54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BF71"/>
          </a:solidFill>
          <a:ln/>
        </p:spPr>
      </p:sp>
      <p:pic>
        <p:nvPicPr>
          <p:cNvPr id="5" name="Image 0" descr="/home/claude/pptx_build/icons/tr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6184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361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Popularity is concentrated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flagship repos (TensorFlow, Transformers, AutoGPT) drive most engagement — target partnerships with these ecosystem leaders.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15968" y="137160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13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98848" y="1554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C5CE7"/>
          </a:solidFill>
          <a:ln/>
        </p:spPr>
      </p:sp>
      <p:pic>
        <p:nvPicPr>
          <p:cNvPr id="10" name="Image 1" descr="/home/claude/pptx_build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16184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93208" y="15361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is the center of gravity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498848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38% share, Python-based tooling should be a first-class integration priority for any developer-facing product.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83296" y="137160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130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66176" y="1554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BF71"/>
          </a:solidFill>
          <a:ln/>
        </p:spPr>
      </p:sp>
      <p:pic>
        <p:nvPicPr>
          <p:cNvPr id="15" name="Image 2" descr="/home/claude/pptx_build/icons/git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16184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60536" y="15361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Forks signal real adoption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266176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 stars–forks correlation (r = 0.77) suggests forks are a reliable proxy for genuine usage, not just visibility.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538728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13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1520" y="37216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C5CE7"/>
          </a:solidFill>
          <a:ln/>
        </p:spPr>
      </p:sp>
      <p:pic>
        <p:nvPicPr>
          <p:cNvPr id="20" name="Image 3" descr="/home/claude/pptx_build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3785616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3703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Niche languages over-perform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731520" y="4315968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MDX and Ruby repos post the highest average engagement — smaller, focused communities can be highly efficient to engage.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315968" y="3538728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130">
                <a:alpha val="13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498848" y="37216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BF71"/>
          </a:solidFill>
          <a:ln/>
        </p:spPr>
      </p:sp>
      <p:pic>
        <p:nvPicPr>
          <p:cNvPr id="25" name="Image 4" descr="/home/claude/pptx_build/icons/activ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856" y="3785616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093208" y="3703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size ≠ category quality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498848" y="4315968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repos (20% of dataset) match Data Science in average stars — don’t equate volume with impact.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083296" y="3538728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130">
                <a:alpha val="13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266176" y="37216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C5CE7"/>
          </a:solidFill>
          <a:ln/>
        </p:spPr>
      </p:sp>
      <p:pic>
        <p:nvPicPr>
          <p:cNvPr id="30" name="Image 5" descr="/home/claude/pptx_build/icons/targ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0184" y="3785616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860536" y="37033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Engagement Score to rank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266176" y="4315968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star count over-rewards visibility; the composite score better reflects sustained community investment.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Ecosystem Analysis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16213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3291840" cy="3291840"/>
          </a:xfrm>
          <a:prstGeom prst="ellipse">
            <a:avLst/>
          </a:prstGeom>
          <a:solidFill>
            <a:srgbClr val="16213A"/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1737360"/>
            <a:ext cx="914400" cy="914400"/>
          </a:xfrm>
          <a:prstGeom prst="ellipse">
            <a:avLst/>
          </a:prstGeom>
          <a:solidFill>
            <a:srgbClr val="2FBF71"/>
          </a:solidFill>
          <a:ln/>
        </p:spPr>
      </p:sp>
      <p:pic>
        <p:nvPicPr>
          <p:cNvPr id="5" name="Image 0" descr="/home/claude/pptx_build/icons/git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85623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8036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1057</Words>
  <Application>Microsoft Office PowerPoint</Application>
  <PresentationFormat>Widescreen</PresentationFormat>
  <Paragraphs>238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harshitharasala20@outlook.com</cp:lastModifiedBy>
  <cp:revision>2</cp:revision>
  <dcterms:created xsi:type="dcterms:W3CDTF">2026-08-22T14:58:41Z</dcterms:created>
  <dcterms:modified xsi:type="dcterms:W3CDTF">2026-08-22T15:06:49Z</dcterms:modified>
</cp:coreProperties>
</file>